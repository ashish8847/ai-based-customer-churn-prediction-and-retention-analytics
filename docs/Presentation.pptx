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fec489c-860e-b47a-033d-0dbf0b3f331d}">
          <p14:sldIdLst>
            <p14:sldId id="256"/>
          </p14:sldIdLst>
        </p14:section>
        <p14:section name="Default-1" id="{1932f4b6-8b2d-5c2d-2fc1-a3b8aeaf5d53}">
          <p14:sldIdLst>
            <p14:sldId id="257"/>
            <p14:sldId id="258"/>
            <p14:sldId id="259"/>
            <p14:sldId id="260"/>
          </p14:sldIdLst>
        </p14:section>
        <p14:section name="Analysis" id="{8ac4dc5b-1234-6534-67d5-f08b3132579e}">
          <p14:sldIdLst>
            <p14:sldId id="261"/>
            <p14:sldId id="262"/>
          </p14:sldIdLst>
        </p14:section>
        <p14:section name="Modelling" id="{9596ffcb-292e-adb1-49cc-888ceb96a339}">
          <p14:sldIdLst>
            <p14:sldId id="263"/>
            <p14:sldId id="264"/>
            <p14:sldId id="265"/>
            <p14:sldId id="266"/>
            <p14:sldId id="267"/>
          </p14:sldIdLst>
        </p14:section>
        <p14:section name="System" id="{39bc1b0f-e08f-6243-833d-18f7921f0f67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Churn rate by contract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11.27</c:v>
                </c:pt>
                <c:pt idx="2">
                  <c:v>2.83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Churn rate by tenure (months,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0-12</c:v>
                  </c:pt>
                  <c:pt idx="1">
                    <c:v>13-24</c:v>
                  </c:pt>
                  <c:pt idx="2">
                    <c:v>25-48</c:v>
                  </c:pt>
                  <c:pt idx="3">
                    <c:v>49-72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47.44</c:v>
                </c:pt>
                <c:pt idx="1">
                  <c:v>28.71</c:v>
                </c:pt>
                <c:pt idx="2">
                  <c:v>20.39</c:v>
                </c:pt>
                <c:pt idx="3">
                  <c:v>9.51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By payment method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45.29</c:v>
                </c:pt>
                <c:pt idx="1">
                  <c:v>19.11</c:v>
                </c:pt>
                <c:pt idx="2">
                  <c:v>16.71</c:v>
                </c:pt>
                <c:pt idx="3">
                  <c:v>15.24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Internet and support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tech support</c:v>
                  </c:pt>
                  <c:pt idx="3">
                    <c:v>Tech support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41.89</c:v>
                </c:pt>
                <c:pt idx="1">
                  <c:v>18.96</c:v>
                </c:pt>
                <c:pt idx="2">
                  <c:v>41.64</c:v>
                </c:pt>
                <c:pt idx="3">
                  <c:v>15.17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Test recall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balancing</c:v>
                </c:pt>
              </c:strCache>
            </c:strRef>
          </c:tx>
          <c:spPr>
            <a:solidFill>
              <a:srgbClr val="8AA1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Grad. Boosting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0.559</c:v>
                </c:pt>
                <c:pt idx="1">
                  <c:v>0.567</c:v>
                </c:pt>
                <c:pt idx="2">
                  <c:v>0.519</c:v>
                </c:pt>
                <c:pt idx="3">
                  <c:v>0.521</c:v>
                </c:pt>
                <c:pt idx="4">
                  <c:v>0.535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balancing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Grad. Boosting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0.783</c:v>
                </c:pt>
                <c:pt idx="1">
                  <c:v>0.757</c:v>
                </c:pt>
                <c:pt idx="2">
                  <c:v>0.778</c:v>
                </c:pt>
                <c:pt idx="3">
                  <c:v>0.802</c:v>
                </c:pt>
                <c:pt idx="4">
                  <c:v>0.783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4C5C"/>
                </a:solidFill>
                <a:latin typeface="+mn-lt"/>
              </a:rPr>
              <a:t>Actual churn rate by predicted risk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churn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(3,184)</c:v>
                  </c:pt>
                  <c:pt idx="1">
                    <c:v>Medium (1,587)</c:v>
                  </c:pt>
                  <c:pt idx="2">
                    <c:v>High (2,272)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5.34</c:v>
                </c:pt>
                <c:pt idx="1">
                  <c:v>25.39</c:v>
                </c:pt>
                <c:pt idx="2">
                  <c:v>57.04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D5DE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 and your guides. State the goal: predict who will leave, explain why, and suggest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means a customer leaves. In this dataset about one in four customers left. Retention teams cannot call everyone, so ranking customers by risk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objectives from the synopsis, grouped into six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data, machine learning, storage and analytics, and application. The React app calls an Express API, which uses SQLite and a Python worker holding the saved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Telco Customer Churn. Eleven blank TotalCharges values all belonged to customers with zero tenure, so they were set to 0 instead of deleting the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Month-to-month customers are 55% of the base but 88.6% of churners. The first 12 months are the riskiest.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associations, not proven causes. Electronic check may simply mark newer, month-to-month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first, then fit the scaler and encoder on training data only. Preprocessing and model live in one Pipeline so cross-validation stays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models are close. Differences between them are only a few customers out of 374 churners, so the ranking is not conclusive.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balancing the models look more accurate but miss almost half of the churners. Missing a churner is costly, so recall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default 0.5 threshold. About half of flagged customers really churn, so retention offers should be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customer was scored by a model that never saw that customer (out-of-fold). The score is a ranking, not a calibrated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plan: sign in, Dashboard (click a bar to cross-filter), Predict a risky customer then the what-if simulator, Retention queue, Batch scoring, then the Power BI dashboard. Show it on a phone-sized window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suggestion is based on a measured association. None has been tested, so pilot with an A/B test before rolling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limitations. They are part of good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guides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AI-Based Customer Churn Prediction and Retention Analytics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MCA Minor Project | Artificial Intelligence and Machine Learning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[Student Name], [Roll No.]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Guides: Reeti Jaswal (E13367), Palwinder Kaur Mangat (E9422)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customer churn matters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898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29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customers in the IBM Telco dataset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3898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029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customers churned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12648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3898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029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overall churn rate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Problem: companies cannot tell in advance who will leave or why.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Solution: predict churn risk, explain the main factors, suggest retention actions.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Output is decision support, not a guarantee of customer behaviour.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Clean data without leakage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Analyse churn patterns (EDA)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"/>
          <p:cNvSpPr/>
          <p:nvPr/>
        </p:nvSpPr>
        <p:spPr>
          <a:xfrm>
            <a:off x="61722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Compare five ML models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5720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"/>
          <p:cNvSpPr/>
          <p:nvPr/>
        </p:nvSpPr>
        <p:spPr>
          <a:xfrm>
            <a:off x="59436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Predict risk with explanations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324612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"/>
          <p:cNvSpPr/>
          <p:nvPr/>
        </p:nvSpPr>
        <p:spPr>
          <a:xfrm>
            <a:off x="338328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Suggest retention actions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603504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"/>
          <p:cNvSpPr/>
          <p:nvPr/>
        </p:nvSpPr>
        <p:spPr>
          <a:xfrm>
            <a:off x="617220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SQLite, Power BI, React web 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churn-project/doc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176" y="1051560"/>
            <a:ext cx="4041648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and cleaning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7,043 rows, 21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/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TotalCharges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type; 11 blanks (tenure 0) set to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Churn: 1,869 yes (26.54%), 5,174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80/20 stratified: 5,634 train, 1,409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numerics + one-hot categories = 40 inputs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contract and tenure drive churn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4300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payment, internet and support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4300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Methodology and leakage prevention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365760" y="1371600"/>
            <a:ext cx="16002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Clean data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084832" y="1371600"/>
            <a:ext cx="16002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84832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157984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Stratified split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803904" y="1371600"/>
            <a:ext cx="16002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03904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877056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Pipeline: scale + encode + model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522976" y="1371600"/>
            <a:ext cx="1600200" cy="155448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22976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596128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5-fold CV, pick by F1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242048" y="1371600"/>
            <a:ext cx="16002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42048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1920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once, save model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Seed 42 everywhere for reproducibility.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weights handle the 26.5% minority class.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 chosen by a rule set before seeing test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comparison (held-out test set)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097280"/>
                <a:gridCol w="109728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XGBoost selected: highest mean 5-fold cross-validated F1 on training data (0.634).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accuracy alone misleads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309360" y="128016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309360" y="13898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0.809 to 0.750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2029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XGBoost accuracy falls...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309360" y="27432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0" y="28529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0.535 to 0.783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34930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...but its recall rises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selected model finds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churners found (TP)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2514600" y="128016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1460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churners missed (FN)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0" y="128016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alarms (FP)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629400" y="1280160"/>
            <a:ext cx="20574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1389888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764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0299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stayers correct (TN)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0" y="27889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threshold finds more churners but flags many more customers. Cross-validated on training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Risk categories separate customers well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760720" y="1280160"/>
            <a:ext cx="2926080" cy="31089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97880" y="137160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 below 0.30, Medium 0.30 to 0.60, High 0.60 or more.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 group averages a score of 0.78 but actually churned at 57%, so do not read the score as an exact probability.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web application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463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KPIs and click-to-filter charts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463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+ What-if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Gauge, factors, advice, live scenarios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63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workspace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920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Queue, status tracking, CSV export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scoring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CSV, score every row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324612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Metrics, ROC, thresholds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03504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Express + SQLite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520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Responsive, dark mode, JWT login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Retention suggestions (to be tested)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 vs 6.8% long contracts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longer-contract incentive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up to 12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 vs 17.1%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and early check-ins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 vs 16.0% automatic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Encourage automatic payment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tech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41.6% vs 15.2%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 support trial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optic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 vs 19.0% DSL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quality, review pricing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Associations in historical data, not proven causes.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and future scope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470916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E76F51"/>
                </a:solidFill>
              </a:rPr>
              <a:t>Limitations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sample dataset, one snapshot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Models perform very similarly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extensive tuning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 is not a calibrated probability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Recommendations untested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3258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A9D8F"/>
                </a:solidFill>
              </a:rPr>
              <a:t>Future scope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SHAP explanations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Probability calibration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Profit-based threshold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A/B test retention actions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deployment, batch upload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Contract type and tenure are the strongest churn signals.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XGBoost: test recall 0.783, precision 0.520, ROC-AUC 0.846.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Risk groups churned at 5.3%, 25.4% and 57.0%.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working full-stack prototype: React, Express, SQLite, ML model.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Deck">
  <a:themeElements>
    <a:clrScheme name="Churn Deck">
      <a:dk1>
        <a:srgbClr val="1B2A34"/>
      </a:dk1>
      <a:lt1>
        <a:srgbClr val="FFFFFF"/>
      </a:lt1>
      <a:dk2>
        <a:srgbClr val="0F4C5C"/>
      </a:dk2>
      <a:lt2>
        <a:srgbClr val="EEF4F4"/>
      </a:lt2>
      <a:accent1>
        <a:srgbClr val="E76F51"/>
      </a:accent1>
      <a:accent2>
        <a:srgbClr val="2A9D8F"/>
      </a:accent2>
      <a:accent3>
        <a:srgbClr val="E9C46A"/>
      </a:accent3>
      <a:accent4>
        <a:srgbClr val="264653"/>
      </a:accent4>
      <a:accent5>
        <a:srgbClr val="8AB17D"/>
      </a:accent5>
      <a:accent6>
        <a:srgbClr val="F4A261"/>
      </a:accent6>
      <a:hlink>
        <a:srgbClr val="0F4C5C"/>
      </a:hlink>
      <a:folHlink>
        <a:srgbClr val="6B7B83"/>
      </a:folHlink>
    </a:clrScheme>
    <a:fontScheme name="Churn 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Customer Churn Prediction and Retention Analytics</dc:title>
  <dc:subject>PptxGenJS Presentation</dc:subject>
  <dc:creator>PptxGenJS</dc:creator>
  <cp:lastModifiedBy>PptxGenJS</cp:lastModifiedBy>
  <cp:revision>1</cp:revision>
  <dcterms:created xsi:type="dcterms:W3CDTF">2026-10-24T14:39:55Z</dcterms:created>
  <dcterms:modified xsi:type="dcterms:W3CDTF">2026-10-24T14:39:55Z</dcterms:modified>
</cp:coreProperties>
</file>